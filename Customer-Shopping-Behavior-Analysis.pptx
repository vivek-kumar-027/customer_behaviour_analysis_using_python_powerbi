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B1B3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B1B3A"/>
                </a:solidFill>
                <a:latin typeface="Arial"/>
              </a:rPr>
              <a:t>Revenue by Category (USD)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(USD)</c:v>
                </c:pt>
              </c:strCache>
            </c:strRef>
          </c:tx>
          <c:spPr>
            <a:solidFill>
              <a:srgbClr val="6B2E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Clothing</c:v>
                  </c:pt>
                  <c:pt idx="1">
                    <c:v>Accessories</c:v>
                  </c:pt>
                  <c:pt idx="2">
                    <c:v>Footwear</c:v>
                  </c:pt>
                  <c:pt idx="3">
                    <c:v>Outerwear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104264</c:v>
                </c:pt>
                <c:pt idx="1">
                  <c:v>74200</c:v>
                </c:pt>
                <c:pt idx="2">
                  <c:v>36093</c:v>
                </c:pt>
                <c:pt idx="3">
                  <c:v>18524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56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DC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56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B1B3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B1B3A"/>
                </a:solidFill>
                <a:latin typeface="Arial"/>
              </a:rPr>
              <a:t>Average Purchase by Shipping Type (USD)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purchase (USD)</c:v>
                </c:pt>
              </c:strCache>
            </c:strRef>
          </c:tx>
          <c:spPr>
            <a:solidFill>
              <a:srgbClr val="6B2E8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2-Day</c:v>
                  </c:pt>
                  <c:pt idx="1">
                    <c:v>Express</c:v>
                  </c:pt>
                  <c:pt idx="2">
                    <c:v>Free Ship.</c:v>
                  </c:pt>
                  <c:pt idx="3">
                    <c:v>Store Pickup</c:v>
                  </c:pt>
                  <c:pt idx="4">
                    <c:v>Next Day Air</c:v>
                  </c:pt>
                  <c:pt idx="5">
                    <c:v>Standard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60.73</c:v>
                </c:pt>
                <c:pt idx="1">
                  <c:v>60.48</c:v>
                </c:pt>
                <c:pt idx="2">
                  <c:v>60.41</c:v>
                </c:pt>
                <c:pt idx="3">
                  <c:v>59.89</c:v>
                </c:pt>
                <c:pt idx="4">
                  <c:v>58.63</c:v>
                </c:pt>
                <c:pt idx="5">
                  <c:v>58.46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56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5DC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56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B2E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6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Power BI  |  3,900 retail purchases  |  From raw data to business decisions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B2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5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some customers keep coming back while others buy once and disappear?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6B2E8C"/>
          </a:solidFill>
          <a:ln w="12700">
            <a:solidFill>
              <a:srgbClr val="6B2E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0876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mid-sized retailer has no clear, data-backed view of which customers, products and purchase conditions drive spending, loyalty and repeat purchases. Marketing, pricing and retention decisions rest on assumptions instead of evidence.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371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2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783080"/>
            <a:ext cx="39319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our customers (age, gender)?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categories earn the most revenue?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discounts raise spending?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subscribers spend or buy more?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shipping type change purchase value?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seasonal patterns?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satisfied are customers?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B2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Idea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5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analyst workflow: raw data to a dashboard a manager can use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7EEF9"/>
          </a:solidFill>
          <a:ln w="12700">
            <a:solidFill>
              <a:srgbClr val="F7EE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5544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B2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Clean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20240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(pandas): fix missing ratings, standardise columns, drop duplicate field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146304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7EEF9"/>
          </a:solidFill>
          <a:ln w="12700">
            <a:solidFill>
              <a:srgbClr val="F7EE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97480" y="15544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B2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Engineer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1920240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age groups and purchase-frequency (days) features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7EEF9"/>
          </a:solidFill>
          <a:ln w="12700">
            <a:solidFill>
              <a:srgbClr val="F7EE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15544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B2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Visualise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1920240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dashboard: KPIs, charts, slicers for gender, category, shipping, subscription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66560" y="146304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7EEF9"/>
          </a:solidFill>
          <a:ln w="12700">
            <a:solidFill>
              <a:srgbClr val="F7EEF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03720" y="15544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B2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Recommend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1920240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findings into actions the business can test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E5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 self-serve tool for non-technical stakeholders, plus recommendations, not just charts.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B2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Data Preparation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7EEF9"/>
          </a:solidFill>
          <a:ln w="12700">
            <a:solidFill>
              <a:srgbClr val="F7EE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6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20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E5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18872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7EEF9"/>
          </a:solidFill>
          <a:ln w="12700">
            <a:solidFill>
              <a:srgbClr val="F7EE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91840" y="12344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6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920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E5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18872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7EEF9"/>
          </a:solidFill>
          <a:ln w="12700">
            <a:solidFill>
              <a:srgbClr val="F7EE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26480" y="12344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6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1920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E5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ratings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74320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Rating gaps filled with the median of each Category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names standardised to snake_case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Code Used dropped: identical to Discount Applied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age_group built from quartiles: 18-31, 32-44, 45-57, 58-70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purchase_frequency_days mapped from purchase frequency labels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B2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5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values with no filters applied (full dataset)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2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KPI cards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7EEF9"/>
          </a:solidFill>
          <a:ln w="12700">
            <a:solidFill>
              <a:srgbClr val="F7EEF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6420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B2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3774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Customers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60020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7EEF9"/>
          </a:solidFill>
          <a:ln w="12700">
            <a:solidFill>
              <a:srgbClr val="F7EE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91840" y="166420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B2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$59.76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23774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Purchase Amount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60020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7EEF9"/>
          </a:solidFill>
          <a:ln w="12700">
            <a:solidFill>
              <a:srgbClr val="F7EEF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166420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B2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3.75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23774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Review Rating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063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2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metrics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E664B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474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6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$233,081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0233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91840" y="342900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E664B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291840" y="3474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6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3291840" y="40233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6480" y="342900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E664B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26480" y="3474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6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6126480" y="40233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 with Discount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B2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5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against the dataset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80160"/>
          <a:ext cx="42976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846320" y="1280160"/>
            <a:ext cx="3931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is flat: ~$60 per purchase across gender, age, category, subscription and shipping (differences not significant)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are 68% male, 32% female; women spend slightly more per purchase ($60.25 vs $59.54)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are 27% of customers and spend the same ($59.49 vs $59.87)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are used on 43% of purchases, with no spend lift ($59.28 vs $60.13)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is the strongest season ($61.56 avg); average rating is 3.75 / 5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B2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Type Options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5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delivery choice means (dashboard slicer values)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52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E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E8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B2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Shipping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delivery at no charge to the customer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B2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paid delivery, usually the slowest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B2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2-Day Shipping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delivery within two days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B2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faster delivery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B2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Day Air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delivery by the next day, the fastest option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B2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Pickup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collects the order in-store, with no delivery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5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slicer in the dashboard filters every KPI and chart to the selected option.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B2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Type Analysis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5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customers receive their orders, and whether it changes spending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80160"/>
          <a:ext cx="44805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0" y="12801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2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slicer: filters every KPI and chart to one delivery option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0" y="182880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options: Free Shipping, Standard, 2-Day, Express, Next Day Air, Store Pickup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are split almost evenly: 16% to 17% each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Averages range only $58.46 to $60.73; Express vs Standard is +3.4%, not significant (p = 0.13)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share is similar everywhere (24% to 29%)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shipping speed does not drive basket size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B2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Solutions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5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findings mean for the business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7EEF9"/>
          </a:solidFill>
          <a:ln w="12700">
            <a:solidFill>
              <a:srgbClr val="F7EE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2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customers, not baskets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8308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per buyer is uniform, so invest in acquisition and retention rather than chasing "big spender" segments.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32588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7EEF9"/>
          </a:solidFill>
          <a:ln w="12700">
            <a:solidFill>
              <a:srgbClr val="F7EE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2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more women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78308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32% of customers but equal spend per order: run a targeted acquisition campaign.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32588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7EEF9"/>
          </a:solidFill>
          <a:ln w="12700">
            <a:solidFill>
              <a:srgbClr val="F7EE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6364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2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 as retention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178308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do not lift basket size. Offer perks that raise visit frequency and track repeat rate.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7EEF9"/>
          </a:solidFill>
          <a:ln w="12700">
            <a:solidFill>
              <a:srgbClr val="F7EEF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063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2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discount cuts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42900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spend lift from discounts. A/B test targeting offers at lapsing customers to protect margin.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297180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7EEF9"/>
          </a:solidFill>
          <a:ln w="12700">
            <a:solidFill>
              <a:srgbClr val="F7EEF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29000" y="3063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2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around seasons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429000" y="342900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inventory and promotions ahead of fall; use summer for clearance and loyalty offers.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297180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7EEF9"/>
          </a:solidFill>
          <a:ln w="12700">
            <a:solidFill>
              <a:srgbClr val="F7EEF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63640" y="3063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2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product quality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342900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3.75 average rating signals room to improve. Review low-rated items and sizing issues.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6B2E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Vivek Kumar  |  Anubhav Kumar Tiwary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2026-10-01T06:45:05Z</dcterms:created>
  <dcterms:modified xsi:type="dcterms:W3CDTF">2026-10-01T06:45:05Z</dcterms:modified>
</cp:coreProperties>
</file>